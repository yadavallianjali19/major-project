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75" r:id="rId7"/>
    <p:sldId id="263" r:id="rId8"/>
    <p:sldId id="264" r:id="rId9"/>
    <p:sldId id="265" r:id="rId10"/>
    <p:sldId id="266" r:id="rId11"/>
    <p:sldId id="267" r:id="rId12"/>
    <p:sldId id="276" r:id="rId13"/>
    <p:sldId id="277" r:id="rId14"/>
    <p:sldId id="278" r:id="rId15"/>
    <p:sldId id="279" r:id="rId16"/>
    <p:sldId id="282" r:id="rId17"/>
    <p:sldId id="283" r:id="rId18"/>
    <p:sldId id="280" r:id="rId19"/>
    <p:sldId id="281" r:id="rId20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Untitled Section" id="{B3D81208-6DE9-4D32-AD00-C86A8A2AD8C1}">
          <p14:sldIdLst>
            <p14:sldId id="257"/>
            <p14:sldId id="258"/>
            <p14:sldId id="259"/>
            <p14:sldId id="260"/>
            <p14:sldId id="261"/>
            <p14:sldId id="275"/>
            <p14:sldId id="263"/>
            <p14:sldId id="264"/>
            <p14:sldId id="265"/>
            <p14:sldId id="266"/>
            <p14:sldId id="267"/>
            <p14:sldId id="276"/>
            <p14:sldId id="277"/>
            <p14:sldId id="278"/>
            <p14:sldId id="279"/>
            <p14:sldId id="282"/>
            <p14:sldId id="283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li Yadavalli" userId="787b97473d7924a6" providerId="LiveId" clId="{7567CCE6-1D87-4456-B047-36397C2B86E3}"/>
    <pc:docChg chg="modSld">
      <pc:chgData name="Anjali Yadavalli" userId="787b97473d7924a6" providerId="LiveId" clId="{7567CCE6-1D87-4456-B047-36397C2B86E3}" dt="2025-04-04T04:38:41.016" v="0" actId="20577"/>
      <pc:docMkLst>
        <pc:docMk/>
      </pc:docMkLst>
      <pc:sldChg chg="modSp mod">
        <pc:chgData name="Anjali Yadavalli" userId="787b97473d7924a6" providerId="LiveId" clId="{7567CCE6-1D87-4456-B047-36397C2B86E3}" dt="2025-04-04T04:38:41.016" v="0" actId="20577"/>
        <pc:sldMkLst>
          <pc:docMk/>
          <pc:sldMk cId="2095592048" sldId="275"/>
        </pc:sldMkLst>
        <pc:graphicFrameChg chg="modGraphic">
          <ac:chgData name="Anjali Yadavalli" userId="787b97473d7924a6" providerId="LiveId" clId="{7567CCE6-1D87-4456-B047-36397C2B86E3}" dt="2025-04-04T04:38:41.016" v="0" actId="20577"/>
          <ac:graphicFrameMkLst>
            <pc:docMk/>
            <pc:sldMk cId="2095592048" sldId="275"/>
            <ac:graphicFrameMk id="3" creationId="{9AB6BC36-EE0A-331F-55E6-E039C6B4200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FFF89-C2F1-413A-881F-60807DBA8AE6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C42D0-4C4D-440D-80A2-594CD15FE4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3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C42D0-4C4D-440D-80A2-594CD15FE40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8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759677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</a:t>
            </a:r>
            <a:r>
              <a:rPr lang="en-IN" sz="1800" dirty="0"/>
              <a:t>SE(Artificial Intelligence)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5704840" y="1946592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633" y="2186876"/>
            <a:ext cx="1955167" cy="13226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 </a:t>
            </a:r>
            <a:r>
              <a:rPr lang="en-IN" sz="1550" spc="-10" dirty="0" err="1">
                <a:latin typeface="Times New Roman"/>
                <a:cs typeface="Times New Roman"/>
              </a:rPr>
              <a:t>Sk.Gousya</a:t>
            </a:r>
            <a:r>
              <a:rPr lang="en-IN" sz="1550" spc="-10" dirty="0">
                <a:latin typeface="Times New Roman"/>
                <a:cs typeface="Times New Roman"/>
              </a:rPr>
              <a:t> </a:t>
            </a:r>
            <a:r>
              <a:rPr lang="en-IN" sz="1550" spc="-10" dirty="0" err="1">
                <a:latin typeface="Times New Roman"/>
                <a:cs typeface="Times New Roman"/>
              </a:rPr>
              <a:t>Famina</a:t>
            </a:r>
            <a:endParaRPr lang="en-IN" sz="1550" spc="-1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lang="en-IN" sz="1550" spc="-10" dirty="0">
                <a:latin typeface="Times New Roman"/>
                <a:cs typeface="Times New Roman"/>
              </a:rPr>
              <a:t>Y.Anjali 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IN" sz="1550" spc="-10" dirty="0">
                <a:latin typeface="Times New Roman"/>
                <a:cs typeface="Times New Roman"/>
              </a:rPr>
              <a:t> </a:t>
            </a:r>
            <a:r>
              <a:rPr lang="en-IN" sz="1550" spc="-10" dirty="0" err="1">
                <a:latin typeface="Times New Roman"/>
                <a:cs typeface="Times New Roman"/>
              </a:rPr>
              <a:t>G.Archana</a:t>
            </a:r>
            <a:r>
              <a:rPr lang="en-IN" sz="1550" spc="-10" dirty="0">
                <a:latin typeface="Times New Roman"/>
                <a:cs typeface="Times New Roman"/>
              </a:rPr>
              <a:t> Devi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0399" y="2186876"/>
            <a:ext cx="1503045" cy="99578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21471A4352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21471A4364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50" dirty="0">
                <a:latin typeface="Times New Roman"/>
                <a:cs typeface="Times New Roman"/>
              </a:rPr>
              <a:t>(</a:t>
            </a:r>
            <a:r>
              <a:rPr lang="en-IN" sz="1550" dirty="0">
                <a:latin typeface="Times New Roman"/>
                <a:cs typeface="Times New Roman"/>
              </a:rPr>
              <a:t>21471A4319</a:t>
            </a:r>
            <a:r>
              <a:rPr sz="1550" spc="-20" dirty="0"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IN" sz="1550" b="1" dirty="0" err="1">
                <a:latin typeface="Times New Roman"/>
                <a:cs typeface="Times New Roman"/>
              </a:rPr>
              <a:t>Tinnavalli</a:t>
            </a:r>
            <a:r>
              <a:rPr lang="en-IN" sz="1550" b="1" dirty="0">
                <a:latin typeface="Times New Roman"/>
                <a:cs typeface="Times New Roman"/>
              </a:rPr>
              <a:t> Venkata Manohar </a:t>
            </a:r>
            <a:r>
              <a:rPr lang="en-IN" sz="1575" b="1" spc="-15" baseline="-15873" dirty="0">
                <a:latin typeface="Times New Roman"/>
                <a:cs typeface="Times New Roman"/>
              </a:rPr>
              <a:t>M.Tech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IN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Assistant Professor,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1400" y="6451047"/>
            <a:ext cx="18288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9D45CE-F72B-13ED-EF2F-D946032F4B8F}"/>
              </a:ext>
            </a:extLst>
          </p:cNvPr>
          <p:cNvSpPr txBox="1"/>
          <p:nvPr/>
        </p:nvSpPr>
        <p:spPr>
          <a:xfrm>
            <a:off x="2667000" y="1133536"/>
            <a:ext cx="865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Optimizing Airline Fare Predictions with Machine Learning Algorithms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7BB1762-3AD3-D7DA-5F0F-74B353B0BAF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CD23563-4F48-73A0-0050-BB46F93D728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1276652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86600" y="6451049"/>
            <a:ext cx="16764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391261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Research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spc="-20" dirty="0">
                <a:latin typeface="Times New Roman"/>
                <a:cs typeface="Times New Roman"/>
              </a:rPr>
              <a:t>Gaps</a:t>
            </a:r>
            <a:endParaRPr lang="en-US"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Problem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Statement</a:t>
            </a:r>
            <a:endParaRPr lang="en-US"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lang="en-US" sz="1800" spc="-10" dirty="0">
                <a:latin typeface="Times New Roman"/>
                <a:cs typeface="Times New Roman"/>
              </a:rPr>
              <a:t>Objectives</a:t>
            </a:r>
            <a:endParaRPr lang="en-US"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lang="en-IN" sz="1800" spc="-1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lang="en-IN" spc="-10" dirty="0">
                <a:latin typeface="Times New Roman"/>
                <a:cs typeface="Times New Roman"/>
              </a:rPr>
              <a:t>Implementation</a:t>
            </a: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lang="en-IN" spc="-10" dirty="0">
                <a:latin typeface="Times New Roman"/>
                <a:cs typeface="Times New Roman"/>
              </a:rPr>
              <a:t>Result &amp; analysis</a:t>
            </a: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lang="en-IN" spc="-10" dirty="0">
                <a:latin typeface="Times New Roman"/>
                <a:cs typeface="Times New Roman"/>
              </a:rPr>
              <a:t>References</a:t>
            </a: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CF82248-77BB-F7DB-ECB3-1E298F5DFB5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E66826-D9AD-E6CF-AEA8-3851B1336AD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0400" y="6451048"/>
            <a:ext cx="18288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813304"/>
            <a:ext cx="11201399" cy="25045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 algn="just"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/>
              <a:t>We aim to address the dynamic nature of airline ticket pricing within the highly organized airline industry.</a:t>
            </a:r>
          </a:p>
          <a:p>
            <a:pPr marL="241300" indent="-228600" algn="just"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/>
              <a:t>Despite the sector's structure, ticket prices remain variable, influenced by diverse factors. This variability leads passengers on the same flight paying different fares causing revenue losses &amp; customer dissatisfaction.</a:t>
            </a:r>
          </a:p>
          <a:p>
            <a:pPr marL="241300" indent="-228600" algn="just"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/>
              <a:t>Our objective is to develop a predictive model capable of capturing the intricate relationships among various factors affecting flight ticket costs. Ultimately fostering operational decision-making and customer satisfaction.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A208C71-BC68-DDFC-337B-2D0A7F9F396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CE11866-6E96-F010-8592-CCFBF986ECB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254551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1024" y="6451049"/>
            <a:ext cx="14509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730872"/>
            <a:ext cx="10402951" cy="297260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The study compares the performance of Random Forest and Decision Tree Regressors.</a:t>
            </a: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Key performance metrics used include MAE, RMSE, and R².</a:t>
            </a: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The dataset includes over 10,000 records with attributes like airline, journey date, route, and stops.</a:t>
            </a: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Data preprocessing ensures quality by handling missing values and encoding categorical variables.</a:t>
            </a: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The project aids airlines in revenue management and customers in optimizing booking decisions.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C900BDA-F117-28F4-579E-0949E6F5A57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16DBB68-5321-A792-EE5F-06C639617F4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980822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5" name="object 5"/>
          <p:cNvSpPr txBox="1"/>
          <p:nvPr/>
        </p:nvSpPr>
        <p:spPr>
          <a:xfrm>
            <a:off x="4330929" y="6451049"/>
            <a:ext cx="100307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8002" y="6451049"/>
            <a:ext cx="15239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554497"/>
              </p:ext>
            </p:extLst>
          </p:nvPr>
        </p:nvGraphicFramePr>
        <p:xfrm>
          <a:off x="679450" y="1275430"/>
          <a:ext cx="10822939" cy="473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600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2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/>
                        <a:t>A Machine Learning Based Approach to Predicting Flight Fares for Indian Airlines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 err="1"/>
                        <a:t>Dr.</a:t>
                      </a:r>
                      <a:r>
                        <a:rPr lang="en-IN" sz="1600" dirty="0"/>
                        <a:t> R. Srinivasan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b="0" dirty="0"/>
                        <a:t>International Conference on Innovations in Engineering and Technology (ICIET), </a:t>
                      </a:r>
                      <a:r>
                        <a:rPr lang="en-US" sz="1400" dirty="0"/>
                        <a:t>2023.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/>
                        <a:t>Data Preprocessing,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Regression models such as Random Forest, Extra Trees, Support Vector Regression (SVR), </a:t>
                      </a:r>
                      <a:r>
                        <a:rPr lang="en-US" sz="1600" dirty="0" err="1"/>
                        <a:t>eXtreme</a:t>
                      </a:r>
                      <a:r>
                        <a:rPr lang="en-US" sz="1600" dirty="0"/>
                        <a:t> Gradient Boosting (</a:t>
                      </a:r>
                      <a:r>
                        <a:rPr lang="en-US" sz="1600" dirty="0" err="1"/>
                        <a:t>XGBoost</a:t>
                      </a:r>
                      <a:r>
                        <a:rPr lang="en-US" sz="1600" dirty="0"/>
                        <a:t>), and K-Nearest Neighbors.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Identified significant features like total stops, flight duration, and timing for accurate fare prediction.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/>
                        <a:t>Expand datasets with more features and consider external macroeconomic factors.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16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A Novel Approach to Predict Flight Fares in India Using SOM-LSSVM Model Approach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Umanesan</a:t>
                      </a:r>
                      <a:r>
                        <a:rPr lang="en-IN" sz="1400" dirty="0"/>
                        <a:t> R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Ajay S </a:t>
                      </a:r>
                      <a:r>
                        <a:rPr lang="en-IN" sz="1400" dirty="0" err="1"/>
                        <a:t>Bhongade</a:t>
                      </a:r>
                      <a:r>
                        <a:rPr lang="en-IN" sz="1400" dirty="0"/>
                        <a:t> 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International Conference on Electronics, Computing, Communication, and Control Technology (ICECCC), 2024.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Combines Self-Organizing Maps (SOM) for clustering and Least Square Support Vector Machine (LSSVM) for regression, forming the hybrid SOM-LSSVM model.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The hybrid approach provided better stability and convergence for time-series forecasting compared to other models.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Time remaining before departure was identified as the most significant factor affecting airfare predictions</a:t>
                      </a:r>
                      <a:r>
                        <a:rPr lang="en-US" sz="1600" dirty="0"/>
                        <a:t>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E54F40C-A015-BF6A-2423-2955322B44D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3899DEA-115E-176D-CB75-9310FF6DFF7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50"/>
            <a:ext cx="1003071" cy="179536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4E12-88CB-521B-DEF8-0D76E80C0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F40A2382-E422-1315-764F-C6F72AD08CF7}"/>
              </a:ext>
            </a:extLst>
          </p:cNvPr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EE2A523-CE7C-4F28-C6EF-4E16835ECDA8}"/>
              </a:ext>
            </a:extLst>
          </p:cNvPr>
          <p:cNvSpPr txBox="1"/>
          <p:nvPr/>
        </p:nvSpPr>
        <p:spPr>
          <a:xfrm>
            <a:off x="6781800" y="6451049"/>
            <a:ext cx="16002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FF1E518-FD4E-EA16-5608-5F159C8EF38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AB6BC36-EE0A-331F-55E6-E039C6B42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277704"/>
              </p:ext>
            </p:extLst>
          </p:nvPr>
        </p:nvGraphicFramePr>
        <p:xfrm>
          <a:off x="679450" y="1371600"/>
          <a:ext cx="10822939" cy="4724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3922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740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IN"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/>
                        <a:t>A Prediction of Flight Fare Using K-Nearest Neighbors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S. </a:t>
                      </a:r>
                      <a:r>
                        <a:rPr lang="en-IN" sz="1400"/>
                        <a:t>Naveen Prasath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/>
                        <a:t>Dr</a:t>
                      </a:r>
                      <a:r>
                        <a:rPr lang="en-IN" sz="1400" dirty="0"/>
                        <a:t>. Sathish Kumar MMs. Sherin </a:t>
                      </a:r>
                      <a:r>
                        <a:rPr lang="en-IN" sz="1400" dirty="0" err="1"/>
                        <a:t>Eliyas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/>
                        <a:t>2022 2nd International Conference on Advance Computing and Innovative Technologies in Engineering (ICACITE)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1" dirty="0"/>
                        <a:t>K-Nearest Neighbors (KNN) Algorithm</a:t>
                      </a:r>
                      <a:r>
                        <a:rPr lang="en-US" sz="1400" dirty="0"/>
                        <a:t>: Used for predicting flight fare based on historical data, leveraging machine learning regression techniques.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Visualization of data trends helped identify patterns in pricing fluctuations, such as variations on weekends, holidays, and different times of the day.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Future plans include deploying the model in a user-friendly web application to provide real-time predictions.</a:t>
                      </a:r>
                      <a:endParaRPr lang="en-US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307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IN"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Prediction of Flight Fares Using Machine Learning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Nimmaraju</a:t>
                      </a:r>
                      <a:r>
                        <a:rPr lang="en-IN" sz="1400" dirty="0"/>
                        <a:t> Naga </a:t>
                      </a:r>
                      <a:r>
                        <a:rPr lang="en-IN" sz="1400" dirty="0" err="1"/>
                        <a:t>Srujana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International Conference on Electronics, Computing, Communication, and Control Technology (ICECCC), 2024.</a:t>
                      </a:r>
                      <a:endParaRPr lang="en-US"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Training models using </a:t>
                      </a:r>
                      <a:r>
                        <a:rPr lang="en-US" sz="1400" b="1" dirty="0"/>
                        <a:t>Random Forest</a:t>
                      </a:r>
                      <a:r>
                        <a:rPr lang="en-US" sz="1400" dirty="0"/>
                        <a:t>, </a:t>
                      </a:r>
                      <a:r>
                        <a:rPr lang="en-US" sz="1400" b="1" dirty="0"/>
                        <a:t>Decision Tree Regression</a:t>
                      </a:r>
                      <a:r>
                        <a:rPr lang="en-US" sz="1400" dirty="0"/>
                        <a:t>, and </a:t>
                      </a:r>
                      <a:r>
                        <a:rPr lang="en-US" sz="1400" b="1" dirty="0"/>
                        <a:t>Linear Regression</a:t>
                      </a:r>
                      <a:r>
                        <a:rPr lang="en-US" sz="1400" dirty="0"/>
                        <a:t>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Visualization insights reveal travel trends (e.g., popular airlines, source/destination cities, price distribution).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Only one dataset was used (flight_fare.csv from Kaggle), which might limit generalizability.</a:t>
                      </a:r>
                      <a:endParaRPr lang="en-US"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6A7A75C-48E6-7917-E9BF-BDA12729F1A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5F1EF83-99CB-84F5-86E8-9D790BBB4BD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09559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8002" y="6451049"/>
            <a:ext cx="16001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10402951" cy="3177793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Limited Scope to Domestic Market</a:t>
            </a:r>
            <a:r>
              <a:rPr lang="en-US" dirty="0"/>
              <a:t>: The study focuses only on the Indian domestic airline market, limiting the generalizability of findings to international markets.</a:t>
            </a: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Static Historical Data</a:t>
            </a:r>
            <a:r>
              <a:rPr lang="en-US" dirty="0"/>
              <a:t>: The research primarily uses historical flight data and lacks integration with real-time data sources like social media trends, economic indicators, or weather conditions, which could enhance prediction accuracy.</a:t>
            </a: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Feature Expansion</a:t>
            </a:r>
            <a:r>
              <a:rPr lang="en-US" dirty="0"/>
              <a:t>: Although feature engineering is performed, additional features such as customer behavior, booking window trends, or airline-specific marketing campaigns are not considered.</a:t>
            </a: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/>
              <a:t>Real-Time Model Deployment</a:t>
            </a:r>
            <a:r>
              <a:rPr lang="en-US" dirty="0"/>
              <a:t>: The paper does not discuss implementing the model in a live, real-time environment, which could present unique challenges and opportunities.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D2D0F8B-7602-7B1E-2ACC-DA06F8C2DFDA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D4789B3-6137-DE0A-0097-0A21762C95B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4571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1800" y="6451049"/>
            <a:ext cx="1752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10664825" cy="335732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dirty="0"/>
              <a:t>The dynamic and highly variable nature of airline ticket pricing poses a significant challenge for both airlines and consumers. Airlines aim to optimize their revenue through complex pricing strategies, while consumers struggle to identify the best times and options for booking flights. </a:t>
            </a:r>
          </a:p>
          <a:p>
            <a:pPr marL="240665" indent="-227965" algn="just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dirty="0"/>
              <a:t>The unpredictable fluctuations in ticket prices, influenced by multiple factors such as demand, routes, departure timings, and airline-specific policies, make accurate price prediction a complex task.</a:t>
            </a:r>
          </a:p>
          <a:p>
            <a:pPr marL="240665" indent="-227965" algn="just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dirty="0"/>
              <a:t>This study seeks to address the challenge by leveraging machine learning algorithms, specifically Random Forest and Decision Tree Regressors, to predict flight fares based on historical data. 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B41EFC4-8779-01FF-6E12-BE1FD94894F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0279877-3AB0-68A0-797A-D725F15F1AC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1075770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5600" y="6451049"/>
            <a:ext cx="1524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10588625" cy="262379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b="1" dirty="0"/>
              <a:t>Develop a Reliable Prediction Model</a:t>
            </a:r>
            <a:r>
              <a:rPr lang="en-US" dirty="0"/>
              <a:t>: To create machine learning models capable of accurately predicting airline ticket prices based on historical data.</a:t>
            </a: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b="1" dirty="0"/>
              <a:t>Compare Algorithm Performance</a:t>
            </a:r>
            <a:r>
              <a:rPr lang="en-US" dirty="0"/>
              <a:t>: To evaluate and compare the performance of Random Forest and Decision Tree Regressors in terms of accuracy, error metrics, and reliability.</a:t>
            </a: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b="1" dirty="0"/>
              <a:t>Optimize Airline Pricing Strategies</a:t>
            </a:r>
            <a:r>
              <a:rPr lang="en-US" dirty="0"/>
              <a:t>: To assist airlines in optimizing their revenue management by understanding pricing trends and customer behavior.</a:t>
            </a:r>
          </a:p>
          <a:p>
            <a:pPr marL="298450" indent="-285750">
              <a:lnSpc>
                <a:spcPct val="100000"/>
              </a:lnSpc>
              <a:spcBef>
                <a:spcPts val="780"/>
              </a:spcBef>
              <a:buFont typeface="Arial" panose="020B0604020202020204" pitchFamily="34" charset="0"/>
              <a:buChar char="•"/>
              <a:tabLst>
                <a:tab pos="527050" algn="l"/>
              </a:tabLst>
            </a:pPr>
            <a:r>
              <a:rPr lang="en-US" b="1" dirty="0"/>
              <a:t>Enhance Customer Decision-Making</a:t>
            </a:r>
            <a:r>
              <a:rPr lang="en-US" dirty="0"/>
              <a:t>: To empower consumers with tools to identify the optimal time and conditions for booking flights.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2F3A770-D447-09DA-3B03-7DF7C312E51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0B58F53-94FE-B7DF-74B6-4C4DDD92F0D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6163" y="284163"/>
            <a:ext cx="10917237" cy="979755"/>
          </a:xfrm>
        </p:spPr>
        <p:txBody>
          <a:bodyPr vert="horz" wrap="square" lIns="0" tIns="299720" rIns="0" bIns="0" rtlCol="0">
            <a:spAutoFit/>
          </a:bodyPr>
          <a:lstStyle/>
          <a:p>
            <a:r>
              <a:rPr lang="en-US" dirty="0"/>
              <a:t>BLOCK DIAGRAM OR FLOW DIAGRAM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B49C2F5-AC47-F852-FBDE-2F7FCB636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8" y="1689835"/>
            <a:ext cx="11201401" cy="276999"/>
          </a:xfrm>
        </p:spPr>
        <p:txBody>
          <a:bodyPr/>
          <a:lstStyle/>
          <a:p>
            <a:r>
              <a:rPr lang="en-US" sz="1800" dirty="0"/>
              <a:t>EXISTING SYSTEM ARCHITECTURE                                PROPOSED SYSTEM ARCHITECTURE</a:t>
            </a:r>
            <a:endParaRPr lang="en-IN" sz="18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</p:spPr>
        <p:txBody>
          <a:bodyPr vert="horz" wrap="square" lIns="0" tIns="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10</a:t>
            </a:fld>
            <a:endParaRPr lang="en-IN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1802" y="6451048"/>
            <a:ext cx="198119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A8140A-41FC-809B-6BD8-A536B40094C4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2350811"/>
            <a:ext cx="4619135" cy="1763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E28206-DAE0-0DFF-8669-45088840B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599" y="2209800"/>
            <a:ext cx="5181601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F0F4816-C0BA-42F5-B8B0-544654FDA61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DD64E7B-882F-1799-6EEA-5E2C69E4E0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980822" cy="179535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1800" y="6451049"/>
            <a:ext cx="1752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496069"/>
            <a:ext cx="10817225" cy="421653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Dataset </a:t>
            </a:r>
            <a:r>
              <a:rPr lang="en-US" b="1" dirty="0" err="1"/>
              <a:t>Description</a:t>
            </a:r>
            <a:r>
              <a:rPr lang="en-US" dirty="0" err="1"/>
              <a:t>:Utilize</a:t>
            </a:r>
            <a:r>
              <a:rPr lang="en-US" dirty="0"/>
              <a:t> a dataset containing over 10,000 records with features like airline, journey date, source, destination, route, departure and arrival times, total stops, and fare </a:t>
            </a:r>
            <a:r>
              <a:rPr lang="en-US" dirty="0" err="1"/>
              <a:t>price.These</a:t>
            </a:r>
            <a:r>
              <a:rPr lang="en-US" dirty="0"/>
              <a:t> attributes are crucial for analyzing fare patterns and building predictive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Data Preprocessing</a:t>
            </a:r>
            <a:r>
              <a:rPr lang="en-US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Handling Missing Data</a:t>
            </a:r>
            <a:r>
              <a:rPr lang="en-US" dirty="0"/>
              <a:t>: Identify and impute missing values using mean or mode for numerical and categorical variables, respectively.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Removing Duplicates</a:t>
            </a:r>
            <a:r>
              <a:rPr lang="en-US" dirty="0"/>
              <a:t>: Eliminate duplicate records to ensure dataset integrity.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Standardizing Data</a:t>
            </a:r>
            <a:r>
              <a:rPr lang="en-US" dirty="0"/>
              <a:t>: Normalize or standardize numerical features to maintain scale consistency.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Encoding Categorical Variables</a:t>
            </a:r>
            <a:r>
              <a:rPr lang="en-US" dirty="0"/>
              <a:t>: Convert categorical features like airline and route into numerical representations using one-hot or label encoding.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Feature </a:t>
            </a:r>
            <a:r>
              <a:rPr lang="en-US" b="1" dirty="0" err="1"/>
              <a:t>Engineering</a:t>
            </a:r>
            <a:r>
              <a:rPr lang="en-US" dirty="0" err="1"/>
              <a:t>:Extract</a:t>
            </a:r>
            <a:r>
              <a:rPr lang="en-US" dirty="0"/>
              <a:t> additional features such as flight duration, day of the week, and whether the flight occurs during peak or off-peak hours.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Exploratory Data Analysis (EDA)</a:t>
            </a:r>
            <a:r>
              <a:rPr lang="en-US" dirty="0"/>
              <a:t>:Visualize and analyze data distributions to understand the impact of variables like the number of stops or airline type on fare prices.</a:t>
            </a:r>
          </a:p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3329C34-5815-6511-90DF-4AB6F78DFFB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1B95B21-3541-E0F9-5531-BFE5393BD9D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980822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A06E-9256-22DE-F0E2-29F08285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DCCC3AC-9980-0934-EECF-39807F841B6B}"/>
              </a:ext>
            </a:extLst>
          </p:cNvPr>
          <p:cNvSpPr txBox="1"/>
          <p:nvPr/>
        </p:nvSpPr>
        <p:spPr>
          <a:xfrm>
            <a:off x="4429378" y="6451049"/>
            <a:ext cx="107577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C204CB-D2DD-F47A-8FAF-17A9518AE7EF}"/>
              </a:ext>
            </a:extLst>
          </p:cNvPr>
          <p:cNvSpPr txBox="1"/>
          <p:nvPr/>
        </p:nvSpPr>
        <p:spPr>
          <a:xfrm>
            <a:off x="6781800" y="6451048"/>
            <a:ext cx="1600200" cy="17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(AI)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89E8FE5-D762-BF43-C3BF-7C6D7C60350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6525AA3-1633-7DFB-8B80-D36ACEBFBC8C}"/>
              </a:ext>
            </a:extLst>
          </p:cNvPr>
          <p:cNvSpPr txBox="1"/>
          <p:nvPr/>
        </p:nvSpPr>
        <p:spPr>
          <a:xfrm>
            <a:off x="838201" y="1295400"/>
            <a:ext cx="10820400" cy="411138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Model </a:t>
            </a:r>
            <a:r>
              <a:rPr lang="en-US" b="1" dirty="0" err="1"/>
              <a:t>Selection</a:t>
            </a:r>
            <a:r>
              <a:rPr lang="en-US" dirty="0" err="1"/>
              <a:t>:Choose</a:t>
            </a:r>
            <a:r>
              <a:rPr lang="en-US" dirty="0"/>
              <a:t> </a:t>
            </a:r>
            <a:r>
              <a:rPr lang="en-US" b="1" dirty="0"/>
              <a:t>Random Forest Regressor</a:t>
            </a:r>
            <a:r>
              <a:rPr lang="en-US" dirty="0"/>
              <a:t> and </a:t>
            </a:r>
            <a:r>
              <a:rPr lang="en-US" b="1" dirty="0"/>
              <a:t>Decision Tree Regressor</a:t>
            </a:r>
            <a:r>
              <a:rPr lang="en-US" dirty="0"/>
              <a:t> for their ability to handle complex relationships and provide feature importance insights.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Model </a:t>
            </a:r>
            <a:r>
              <a:rPr lang="en-US" b="1" dirty="0" err="1"/>
              <a:t>Training</a:t>
            </a:r>
            <a:r>
              <a:rPr lang="en-US" dirty="0" err="1"/>
              <a:t>:Split</a:t>
            </a:r>
            <a:r>
              <a:rPr lang="en-US" dirty="0"/>
              <a:t> the dataset into training and testing sets (e.g., 80% training, 20% testing).Train the models using historical data to capture patterns in fare fluctuations.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Hyperparameter </a:t>
            </a:r>
            <a:r>
              <a:rPr lang="en-US" b="1" dirty="0" err="1"/>
              <a:t>Optimization</a:t>
            </a:r>
            <a:r>
              <a:rPr lang="en-US" dirty="0" err="1"/>
              <a:t>:Use</a:t>
            </a:r>
            <a:r>
              <a:rPr lang="en-US" dirty="0"/>
              <a:t> Randomized Search CV to optimize hyperparameters such as the number of estimators, maximum depth, and minimum samples split for the Random Forest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Model </a:t>
            </a:r>
            <a:r>
              <a:rPr lang="en-IN" b="1" dirty="0" err="1"/>
              <a:t>Evaluation</a:t>
            </a:r>
            <a:r>
              <a:rPr lang="en-IN" dirty="0" err="1"/>
              <a:t>:Evaluate</a:t>
            </a:r>
            <a:r>
              <a:rPr lang="en-IN" dirty="0"/>
              <a:t> model performance using the following metrics: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Mean Absolute Error (MAE)</a:t>
            </a:r>
            <a:r>
              <a:rPr lang="en-IN" dirty="0"/>
              <a:t>: Measures the average absolute error of predictions.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Mean Squared Error (MSE)</a:t>
            </a:r>
            <a:r>
              <a:rPr lang="en-IN" dirty="0"/>
              <a:t> and </a:t>
            </a:r>
            <a:r>
              <a:rPr lang="en-IN" b="1" dirty="0"/>
              <a:t>Root Mean Squared Error (RMSE)</a:t>
            </a:r>
            <a:r>
              <a:rPr lang="en-IN" dirty="0"/>
              <a:t>: Quantify prediction deviations, with RMSE emphasizing larger errors.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R² Score</a:t>
            </a:r>
            <a:r>
              <a:rPr lang="en-IN" dirty="0"/>
              <a:t>: Determines how well the model explains variance in the target variable.</a:t>
            </a:r>
          </a:p>
          <a:p>
            <a:endParaRPr lang="en-US" dirty="0"/>
          </a:p>
          <a:p>
            <a:endParaRPr lang="en-US" dirty="0"/>
          </a:p>
          <a:p>
            <a:pPr marL="241300" marR="290195" indent="-229235">
              <a:lnSpc>
                <a:spcPts val="3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272B6CC-4949-25D9-6B37-5F995A99E8F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D63B8F5-D741-F50E-D4F4-FB45E91B6BF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IN" dirty="0"/>
              <a:t>Batch No.BG4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948579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E9E1-B9E2-AB89-5502-2BDF9990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538638"/>
            <a:ext cx="9415272" cy="909161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5FB02-1BC1-FC70-4746-2B3188667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981200"/>
            <a:ext cx="10817225" cy="4185761"/>
          </a:xfrm>
        </p:spPr>
        <p:txBody>
          <a:bodyPr/>
          <a:lstStyle/>
          <a:p>
            <a:r>
              <a:rPr lang="en-IN" sz="1800" b="1" dirty="0"/>
              <a:t>Tools and Technologies:</a:t>
            </a:r>
          </a:p>
          <a:p>
            <a:r>
              <a:rPr lang="en-IN" sz="1800" dirty="0"/>
              <a:t>• Programming Language: </a:t>
            </a:r>
            <a:r>
              <a:rPr lang="en-IN" sz="1800" b="1" dirty="0"/>
              <a:t>Python</a:t>
            </a:r>
            <a:r>
              <a:rPr lang="en-IN" sz="1800" dirty="0"/>
              <a:t> </a:t>
            </a:r>
          </a:p>
          <a:p>
            <a:r>
              <a:rPr lang="en-IN" sz="1800" dirty="0"/>
              <a:t>• Libraries Used: </a:t>
            </a:r>
            <a:r>
              <a:rPr lang="en-IN" sz="1800" b="1" dirty="0"/>
              <a:t>NumPy, Pandas, Scikit-learn, Matplotlib, Seaborn </a:t>
            </a:r>
          </a:p>
          <a:p>
            <a:r>
              <a:rPr lang="en-IN" sz="1800" dirty="0"/>
              <a:t>• Platform: </a:t>
            </a:r>
            <a:r>
              <a:rPr lang="en-IN" sz="1800" b="1" dirty="0" err="1"/>
              <a:t>Jupyter</a:t>
            </a:r>
            <a:r>
              <a:rPr lang="en-IN" sz="1800" b="1" dirty="0"/>
              <a:t> Notebook or Google </a:t>
            </a:r>
            <a:r>
              <a:rPr lang="en-IN" sz="1800" b="1" dirty="0" err="1"/>
              <a:t>Colab</a:t>
            </a:r>
            <a:r>
              <a:rPr lang="en-IN" sz="1800" b="1" dirty="0"/>
              <a:t> </a:t>
            </a:r>
          </a:p>
          <a:p>
            <a:r>
              <a:rPr lang="en-IN" sz="1800" b="1" dirty="0"/>
              <a:t>Environment Setup </a:t>
            </a:r>
          </a:p>
          <a:p>
            <a:r>
              <a:rPr lang="en-IN" sz="1800" dirty="0"/>
              <a:t>• Install required libraries: NumPy, OpenCV, Matplotlib</a:t>
            </a:r>
          </a:p>
          <a:p>
            <a:r>
              <a:rPr lang="en-US" sz="1800" b="1" dirty="0"/>
              <a:t>Dataset Preparation </a:t>
            </a:r>
          </a:p>
          <a:p>
            <a:r>
              <a:rPr lang="en-US" sz="1800" dirty="0"/>
              <a:t>• Download the dataset from the referenced source. </a:t>
            </a:r>
          </a:p>
          <a:p>
            <a:r>
              <a:rPr lang="en-US" sz="1800" dirty="0"/>
              <a:t>• Organize the dataset into folders for training, and testing (80% training, 20% testing). </a:t>
            </a:r>
          </a:p>
          <a:p>
            <a:r>
              <a:rPr lang="en-US" sz="1800" b="1" dirty="0"/>
              <a:t>Model Building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Select appropriate machine learning models based on the problem type, Regression models: Random Forest,     Decision Tree.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Train the models using the training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Use cross-validation to ensure the model generalizes well.</a:t>
            </a:r>
          </a:p>
          <a:p>
            <a:endParaRPr lang="en-IN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DF118-BA85-27CC-D0F4-0A4128FCF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13</a:t>
            </a:fld>
            <a:endParaRPr lang="en-IN" spc="-25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0E5DEE4-E5FC-D90B-12F7-DBF74F65252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55E556-596B-57B0-8173-C88063CCB1A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14800" y="6451049"/>
            <a:ext cx="5334000" cy="249313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/>
              <a:t>Review No.2       Batch No.BG4         Department of CSE(AI)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976309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C08C-9A10-3B11-57C4-CA8518A3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199" y="609599"/>
            <a:ext cx="7641335" cy="677108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3451B-BEA1-CD25-E1AD-AF814C1BA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10969625" cy="4154984"/>
          </a:xfrm>
        </p:spPr>
        <p:txBody>
          <a:bodyPr/>
          <a:lstStyle/>
          <a:p>
            <a:r>
              <a:rPr lang="en-IN" sz="1800" b="1" dirty="0"/>
              <a:t>Hyperparameter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Optimize model performance by fine-tuning hyperparameters using methods like: Grid Search or Randomized 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Test combinations of parameters (e.g., number of estimators, maximum depth).</a:t>
            </a:r>
          </a:p>
          <a:p>
            <a:r>
              <a:rPr lang="en-IN" sz="1800" b="1" dirty="0"/>
              <a:t>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Evaluate the trained model on the test dataset using metrics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R² (coefficient of determination).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Mean Absolute Error (MAE).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Mean Squared Error (MSE) or Root Mean Squared Error (RMSE).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Mean Absolute Percentage Error (MAPE).</a:t>
            </a:r>
          </a:p>
          <a:p>
            <a:r>
              <a:rPr lang="en-US" sz="1800" b="1" dirty="0"/>
              <a:t>Model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Train multiple models like Decision Tree, Random Forest and compare their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Select the best-performing model based on evaluation metrics.</a:t>
            </a:r>
          </a:p>
          <a:p>
            <a:endParaRPr lang="en-US" sz="1800" dirty="0"/>
          </a:p>
          <a:p>
            <a:pPr lvl="1"/>
            <a:endParaRPr lang="en-IN" dirty="0"/>
          </a:p>
          <a:p>
            <a:endParaRPr lang="en-IN" sz="18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7472F1F-9447-3955-F975-FCAF59A13B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14</a:t>
            </a:fld>
            <a:endParaRPr lang="en-IN" spc="-25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ED26130-F011-0853-8086-2E1E4E95768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963DDBE-CEF5-FE8C-9161-C0ACE7EEA73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648200" y="6451049"/>
            <a:ext cx="5486400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 dirty="0"/>
              <a:t>Review No.2       Batch No.BG4         Department of CSE(AI)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321161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1D66-A85B-182A-738D-FC3F3918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533399"/>
            <a:ext cx="7716838" cy="949325"/>
          </a:xfrm>
        </p:spPr>
        <p:txBody>
          <a:bodyPr/>
          <a:lstStyle/>
          <a:p>
            <a:r>
              <a:rPr lang="en-IN" dirty="0"/>
              <a:t>RESULTS &amp;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367E29-3DDD-30A8-8EDA-227B7D6DA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364" y="1752600"/>
            <a:ext cx="10479835" cy="16619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table presents a comparison of evaluation metrics between two machine learning models: </a:t>
            </a:r>
            <a:r>
              <a:rPr lang="en-US" sz="1800" b="1" dirty="0"/>
              <a:t>Random Forest</a:t>
            </a:r>
            <a:r>
              <a:rPr lang="en-US" sz="1800" dirty="0"/>
              <a:t> and </a:t>
            </a:r>
            <a:r>
              <a:rPr lang="en-US" sz="1800" b="1" dirty="0"/>
              <a:t>Decision Tree.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Random Forest</a:t>
            </a:r>
            <a:r>
              <a:rPr lang="en-US" sz="1800" dirty="0"/>
              <a:t> outperforms Decision Tree across most metrics, achieving a higher accuracy (87% vs. 84%) and a better R2 Score (0.7974 vs. 0.6738), indicating better predictive power.</a:t>
            </a:r>
            <a:endParaRPr lang="en-US" sz="1800" b="1" dirty="0"/>
          </a:p>
          <a:p>
            <a:endParaRPr lang="en-US" sz="1800" b="1" dirty="0"/>
          </a:p>
          <a:p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66E87-37C8-BC15-45D7-C949E23B2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00400"/>
            <a:ext cx="6858000" cy="3048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5F37246-6719-9C91-69C7-1CFBFE3006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15</a:t>
            </a:fld>
            <a:endParaRPr lang="en-IN" spc="-25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EAA2C84-5B50-F839-7588-2B12EB5A8A2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C12BC5-EFD6-D31A-18CD-E12431C92E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800600" y="6451049"/>
            <a:ext cx="4953000" cy="330751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 dirty="0"/>
              <a:t>Review No.2       Batch No.BG4         Department of CSE(AI)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201052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4BE76-AE0F-4F1E-AAF5-2791FAE2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463" y="685799"/>
            <a:ext cx="10101072" cy="838201"/>
          </a:xfrm>
        </p:spPr>
        <p:txBody>
          <a:bodyPr/>
          <a:lstStyle/>
          <a:p>
            <a:r>
              <a:rPr lang="en-US" sz="4400" spc="-10" dirty="0"/>
              <a:t>CONCLUSION AND FUTURE SCOPE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028DF-9223-1A84-822E-158F42F86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99" y="1981200"/>
            <a:ext cx="11201399" cy="3657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Random Forest Outperforms Decision Tree</a:t>
            </a:r>
            <a:r>
              <a:rPr lang="en-US" sz="2000" dirty="0"/>
              <a:t> – The study confirms that the </a:t>
            </a:r>
            <a:r>
              <a:rPr lang="en-US" sz="2000" b="1" dirty="0"/>
              <a:t>Random Forest model (87% accuracy)</a:t>
            </a:r>
            <a:r>
              <a:rPr lang="en-US" sz="2000" dirty="0"/>
              <a:t> is more reliable and precise than the </a:t>
            </a:r>
            <a:r>
              <a:rPr lang="en-US" sz="2000" b="1" dirty="0"/>
              <a:t>Decision Tree model (84% accuracy)</a:t>
            </a:r>
            <a:r>
              <a:rPr lang="en-US" sz="2000" dirty="0"/>
              <a:t> due to its ensemble learning capability, which reduces overfitting and improves generalization.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Machine Learning Optimizes Airline Pricing</a:t>
            </a:r>
            <a:r>
              <a:rPr lang="en-US" sz="2000" dirty="0"/>
              <a:t> – Predictive models using historical flight data help airlines dynamically adjust ticket prices based on demand patterns, market trends, and seasonal variations, leading to </a:t>
            </a:r>
            <a:r>
              <a:rPr lang="en-US" sz="2000" b="1" dirty="0"/>
              <a:t>better revenue management and competitive pricing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Benefits for Consumers</a:t>
            </a:r>
            <a:r>
              <a:rPr lang="en-US" sz="2000" dirty="0"/>
              <a:t> – Accurate fare predictions empower travelers to </a:t>
            </a:r>
            <a:r>
              <a:rPr lang="en-US" sz="2000" b="1" dirty="0"/>
              <a:t>strategically plan their bookings</a:t>
            </a:r>
            <a:r>
              <a:rPr lang="en-US" sz="2000" dirty="0"/>
              <a:t>, leading to </a:t>
            </a:r>
            <a:r>
              <a:rPr lang="en-US" sz="2000" b="1" dirty="0"/>
              <a:t>cost-effective travel decisions</a:t>
            </a:r>
            <a:r>
              <a:rPr lang="en-US" sz="2000" dirty="0"/>
              <a:t> and improved financial savings.</a:t>
            </a: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A5DAA-D3CD-518B-81C9-9E5CDFA3A3E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80509-2649-DC6E-6DEA-4EC7B4BBC13F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5FE68-115E-AB61-E5A7-452D027D2B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16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659622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76907-E3D0-0F92-2E8A-0F5756B8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71600"/>
            <a:ext cx="11277599" cy="380873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Integration of Real-Time Data for Enhanced Accuracy</a:t>
            </a:r>
            <a:r>
              <a:rPr lang="en-US" sz="2000" dirty="0"/>
              <a:t> – Future research can incorporate </a:t>
            </a:r>
            <a:r>
              <a:rPr lang="en-US" sz="2000" b="1" dirty="0"/>
              <a:t>economic indicators, social media trends, weather conditions, and geopolitical events</a:t>
            </a:r>
            <a:r>
              <a:rPr lang="en-US" sz="2000" dirty="0"/>
              <a:t> to make fare prediction models more adaptive to market fluctuations.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Advancements in Deep Learning and Hybrid Models</a:t>
            </a:r>
            <a:r>
              <a:rPr lang="en-IN" sz="2000" dirty="0"/>
              <a:t> – Exploring </a:t>
            </a:r>
            <a:r>
              <a:rPr lang="en-IN" sz="2000" b="1" dirty="0"/>
              <a:t>Artificial Neural Networks (ANNs), LSTMs, Transformer-based models, and hybrid approaches</a:t>
            </a:r>
            <a:r>
              <a:rPr lang="en-IN" sz="2000" dirty="0"/>
              <a:t> (e.g., combining </a:t>
            </a:r>
            <a:r>
              <a:rPr lang="en-IN" sz="2000" dirty="0" err="1"/>
              <a:t>XGBoost</a:t>
            </a:r>
            <a:r>
              <a:rPr lang="en-IN" sz="2000" dirty="0"/>
              <a:t> with deep learning) can improve predictive accuracy by capturing complex airfare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Global Expansion and Personalized Fare Recommendations</a:t>
            </a:r>
            <a:r>
              <a:rPr lang="en-US" sz="2000" dirty="0"/>
              <a:t> – Extending fare prediction models to </a:t>
            </a:r>
            <a:r>
              <a:rPr lang="en-US" sz="2000" b="1" dirty="0"/>
              <a:t>international airline markets</a:t>
            </a:r>
            <a:r>
              <a:rPr lang="en-US" sz="2000" dirty="0"/>
              <a:t> will improve their applicability, while </a:t>
            </a:r>
            <a:r>
              <a:rPr lang="en-US" sz="2000" b="1" dirty="0"/>
              <a:t>AI-driven personalized pricing systems</a:t>
            </a:r>
            <a:r>
              <a:rPr lang="en-US" sz="2000" dirty="0"/>
              <a:t> can offer customized flight recommendations based on user preferences and behavior.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6984C-FB56-7210-4E55-B8CCB54F0CB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IN"/>
              <a:t>Batch No.BG4</a:t>
            </a:r>
            <a:endParaRPr lang="en-IN" spc="-2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0CDC0-690C-4C26-F489-A6B1AB7722C8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12C29-567A-FBD6-BF5F-21529BDAA3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17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654102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DBB6-9B22-44EF-7DC1-A12D68B3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609599"/>
            <a:ext cx="7641334" cy="350971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5CB9F-26B1-52E7-940E-FA630EFA1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4" y="1730872"/>
            <a:ext cx="10741025" cy="338554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IN" sz="2000" dirty="0"/>
              <a:t>J. Daniel, B. Kanisha, P. Meenakshi, U. Agrawal, and S. Ramakrishnan, “Improv </a:t>
            </a:r>
            <a:r>
              <a:rPr lang="en-IN" sz="2000" dirty="0" err="1"/>
              <a:t>ing</a:t>
            </a:r>
            <a:r>
              <a:rPr lang="en-IN" sz="2000" dirty="0"/>
              <a:t> Accuracy for Flight Fare Prediction using Random Forest Algorithm,” in 2023 11 14th International Conference on Computing Communication and Networking Technologies (ICCCNT), July 2023, pp. 1–9.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M. </a:t>
            </a:r>
            <a:r>
              <a:rPr lang="en-IN" sz="2000" dirty="0" err="1"/>
              <a:t>Mulkalla</a:t>
            </a:r>
            <a:r>
              <a:rPr lang="en-IN" sz="2000" dirty="0"/>
              <a:t> and A. Joshi, “Predicting the Fare of a Flight Ticket with Machine Learning Algorithms,” in 2022 International Conference on Cyber Resilience (ICCR), October 2022, pp. 1–5.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V. Dixit and R. Srinivasan, “A machine learning based approach to predicting f light fares for Indian airlines,” in 2023 international conference on innovations in engineering and technology (ICIET), July 2023, pp. 1–5.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N. S. S. V. S. Rao and S. J. J. Thangaraj, “Flight Ticket Prediction using Ran </a:t>
            </a:r>
            <a:r>
              <a:rPr lang="en-IN" sz="2000" dirty="0" err="1"/>
              <a:t>dom</a:t>
            </a:r>
            <a:r>
              <a:rPr lang="en-IN" sz="2000" dirty="0"/>
              <a:t> Forest Regressor Compared with Decision Tree Regressor,” in 2023 Eighth International Conference on Science Technology Engineering and Mathematics (ICONSTEM), April 2023, pp. 1–5.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4FC39-E9D9-490C-9F1F-DFBDCDD25F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18</a:t>
            </a:fld>
            <a:endParaRPr lang="en-IN" spc="-25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DC8BD-C5E7-1EE4-9033-54CAC86F8C1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68F47-350E-1930-CE79-9DC856504B1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876800" y="6451049"/>
            <a:ext cx="5029200" cy="194309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 dirty="0"/>
              <a:t>Review No.2       Batch No.BG4         Department of CSE(AI)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230557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06E9-01C6-5703-1673-DF15F3BC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2743200"/>
            <a:ext cx="7260334" cy="830997"/>
          </a:xfrm>
        </p:spPr>
        <p:txBody>
          <a:bodyPr/>
          <a:lstStyle/>
          <a:p>
            <a:r>
              <a:rPr lang="en-IN" sz="5400" dirty="0"/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3BBB6-15DA-B0BC-2E1C-A795D1EE82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lang="en-IN" spc="-25" smtClean="0"/>
              <a:t>19</a:t>
            </a:fld>
            <a:endParaRPr lang="en-IN" spc="-25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A2802E-74A3-72AA-210D-56FC5468778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ts val="1410"/>
              </a:lnSpc>
            </a:pPr>
            <a:r>
              <a:rPr lang="en-US" spc="-10"/>
              <a:t>30-01-2025</a:t>
            </a:r>
            <a:endParaRPr lang="en-US" spc="-2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37CBD5-4D2A-CD24-485A-BC10D06C4B3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953000" y="6451049"/>
            <a:ext cx="5410200" cy="254551"/>
          </a:xfrm>
        </p:spPr>
        <p:txBody>
          <a:bodyPr/>
          <a:lstStyle/>
          <a:p>
            <a:pPr marL="12700">
              <a:lnSpc>
                <a:spcPts val="1410"/>
              </a:lnSpc>
            </a:pPr>
            <a:r>
              <a:rPr lang="en-US" dirty="0"/>
              <a:t>Review No.2       Batch No.BG4         Department of CSE(AI)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84987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Words>2293</Words>
  <Application>Microsoft Office PowerPoint</Application>
  <PresentationFormat>Widescreen</PresentationFormat>
  <Paragraphs>245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MT</vt:lpstr>
      <vt:lpstr>Calibri</vt:lpstr>
      <vt:lpstr>Times New Roman</vt:lpstr>
      <vt:lpstr>Office Theme</vt:lpstr>
      <vt:lpstr>Department of CSE(Artificial Intelligence)</vt:lpstr>
      <vt:lpstr>OUTLINE</vt:lpstr>
      <vt:lpstr>ABSTRACT</vt:lpstr>
      <vt:lpstr>INTRODUCTION</vt:lpstr>
      <vt:lpstr>LITERATURE SURVEY</vt:lpstr>
      <vt:lpstr>PowerPoint Presentation</vt:lpstr>
      <vt:lpstr>RESEARCH GAPS</vt:lpstr>
      <vt:lpstr>PROBLEM STATEMENT</vt:lpstr>
      <vt:lpstr>OBJECTIVES</vt:lpstr>
      <vt:lpstr>BLOCK DIAGRAM OR FLOW DIAGRAM</vt:lpstr>
      <vt:lpstr>METHODOLOGY</vt:lpstr>
      <vt:lpstr>PowerPoint Presentation</vt:lpstr>
      <vt:lpstr>IMPLEMENTATION</vt:lpstr>
      <vt:lpstr> </vt:lpstr>
      <vt:lpstr>RESULTS &amp; ANALYSIS</vt:lpstr>
      <vt:lpstr>CONCLUSION AND FUTURE SCOPE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Anjali Yadavalli</dc:creator>
  <cp:lastModifiedBy>Anjali Yadavalli</cp:lastModifiedBy>
  <cp:revision>4</cp:revision>
  <dcterms:created xsi:type="dcterms:W3CDTF">2024-12-26T12:55:49Z</dcterms:created>
  <dcterms:modified xsi:type="dcterms:W3CDTF">2025-04-04T04:38:50Z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2024-12-26T00:00:00Z</vt:filetime>
  </property>
</Properties>
</file>